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9" r:id="rId4"/>
    <p:sldId id="290" r:id="rId5"/>
    <p:sldId id="261" r:id="rId6"/>
    <p:sldId id="264" r:id="rId7"/>
    <p:sldId id="262" r:id="rId8"/>
    <p:sldId id="296" r:id="rId9"/>
    <p:sldId id="291" r:id="rId10"/>
    <p:sldId id="292" r:id="rId11"/>
    <p:sldId id="293" r:id="rId12"/>
    <p:sldId id="294" r:id="rId13"/>
    <p:sldId id="295" r:id="rId14"/>
    <p:sldId id="301" r:id="rId15"/>
    <p:sldId id="263" r:id="rId16"/>
    <p:sldId id="297" r:id="rId17"/>
    <p:sldId id="299" r:id="rId18"/>
    <p:sldId id="300" r:id="rId19"/>
    <p:sldId id="265" r:id="rId20"/>
    <p:sldId id="266" r:id="rId21"/>
    <p:sldId id="283" r:id="rId22"/>
    <p:sldId id="267" r:id="rId23"/>
    <p:sldId id="287" r:id="rId24"/>
    <p:sldId id="28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4D8B8-F7D0-424D-A607-A496B118F172}" v="33" dt="2026-07-05T17:04:57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5992" autoAdjust="0"/>
  </p:normalViewPr>
  <p:slideViewPr>
    <p:cSldViewPr snapToGrid="0" snapToObjects="1">
      <p:cViewPr varScale="1">
        <p:scale>
          <a:sx n="68" d="100"/>
          <a:sy n="68" d="100"/>
        </p:scale>
        <p:origin x="77" y="3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ltralytics/ultralytics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%3A%2F%2Fdocs.ultralytics.com%2F" TargetMode="External"/><Relationship Id="rId7" Type="http://schemas.openxmlformats.org/officeDocument/2006/relationships/hyperlink" Target="https://www.google.com/search?q=https%3A%2F%2Farduinojson.org%2F" TargetMode="External"/><Relationship Id="rId2" Type="http://schemas.openxmlformats.org/officeDocument/2006/relationships/hyperlink" Target="https://www.youtube.com/watch?v=LHBE6Q9XlzI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q=https%3A%2F%2Fgithub.com%2Fwitnessmenow%2FUniversal-Arduino-Telegram-Bot" TargetMode="External"/><Relationship Id="rId5" Type="http://schemas.openxmlformats.org/officeDocument/2006/relationships/hyperlink" Target="https://randomnerdtutorials.com/esp32-cam-video-streaming-web-server-camera-home-assistant/" TargetMode="External"/><Relationship Id="rId4" Type="http://schemas.openxmlformats.org/officeDocument/2006/relationships/hyperlink" Target="https://www.google.com/search?q=https%3A%2F%2Froboflow.com%2F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953367" y="1511786"/>
            <a:ext cx="8395449" cy="4978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3600" b="1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en-US" sz="3600" b="1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en-US" sz="3600" b="1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en-US" sz="3600" b="1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en-US" sz="3600" b="1" dirty="0">
              <a:solidFill>
                <a:srgbClr val="A5002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BINSIGHT: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WASTE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SEGREGATION WITH SECURITY CAMERS</a:t>
            </a:r>
            <a:endParaRPr lang="en-US" sz="2000" dirty="0">
              <a:solidFill>
                <a:srgbClr val="A5002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2166" y="4406142"/>
            <a:ext cx="46237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Team Members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1.Balavignesh K (E0225002)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2.Askwanth Kumar (E0225007)</a:t>
            </a:r>
          </a:p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3.Daniel Mark Rowland (E0225003)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1121" y="4406141"/>
            <a:ext cx="470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Project Guide </a:t>
            </a:r>
          </a:p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Dr G Jayanthi, </a:t>
            </a:r>
          </a:p>
          <a:p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Associate Professor and Senior IEEE member</a:t>
            </a:r>
          </a:p>
          <a:p>
            <a:r>
              <a:rPr lang="en-IN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Cyb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/IOT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6424" y="2099454"/>
            <a:ext cx="3219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itchFamily="18" charset="0"/>
              </a:rPr>
              <a:t>CYB23IN101 Internship -I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4419" y="2608971"/>
            <a:ext cx="2253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Final Review</a:t>
            </a:r>
          </a:p>
          <a:p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Date: </a:t>
            </a:r>
            <a:r>
              <a:rPr lang="en-IN" sz="2000" b="1" dirty="0">
                <a:latin typeface="Times New Roman" panose="02020603050405020304" pitchFamily="18" charset="0"/>
                <a:cs typeface="Times New Roman" pitchFamily="18" charset="0"/>
              </a:rPr>
              <a:t>10-7-2026</a:t>
            </a:r>
          </a:p>
        </p:txBody>
      </p:sp>
      <p:pic>
        <p:nvPicPr>
          <p:cNvPr id="2" name="image1.png">
            <a:extLst>
              <a:ext uri="{FF2B5EF4-FFF2-40B4-BE49-F238E27FC236}">
                <a16:creationId xmlns:a16="http://schemas.microsoft.com/office/drawing/2014/main" id="{93973A3A-1F58-EF58-3874-BCFA67B83C94}"/>
              </a:ext>
            </a:extLst>
          </p:cNvPr>
          <p:cNvPicPr preferRelativeResize="0"/>
          <p:nvPr/>
        </p:nvPicPr>
        <p:blipFill>
          <a:blip r:embed="rId2"/>
          <a:srcRect/>
          <a:stretch>
            <a:fillRect/>
          </a:stretch>
        </p:blipFill>
        <p:spPr>
          <a:xfrm>
            <a:off x="2267609" y="421427"/>
            <a:ext cx="7656783" cy="902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69580" y="6332976"/>
            <a:ext cx="2133600" cy="365125"/>
          </a:xfrm>
        </p:spPr>
        <p:txBody>
          <a:bodyPr/>
          <a:lstStyle/>
          <a:p>
            <a:fld id="{D57F1E4F-1CFF-5643-939E-217C01CDF565}" type="slidenum">
              <a:rPr lang="en-US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2</a:t>
            </a:fld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1981200" y="421147"/>
            <a:ext cx="8526998" cy="433523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endParaRPr lang="en-US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41286" y="1847954"/>
            <a:ext cx="592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Motivation behind the study: </a:t>
            </a:r>
            <a:r>
              <a:rPr lang="en-GB" dirty="0">
                <a:latin typeface="Times New Roman" panose="02020603050405020304" pitchFamily="18" charset="0"/>
                <a:cs typeface="Times New Roman" pitchFamily="18" charset="0"/>
              </a:rPr>
              <a:t>To create a clean &amp; safe house</a:t>
            </a:r>
            <a:endParaRPr lang="en-GB" sz="1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53980" y="1380939"/>
            <a:ext cx="6349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Applications: </a:t>
            </a:r>
            <a:r>
              <a:rPr lang="en-GB" dirty="0">
                <a:latin typeface="Times New Roman" panose="02020603050405020304" pitchFamily="18" charset="0"/>
                <a:cs typeface="Times New Roman" pitchFamily="18" charset="0"/>
              </a:rPr>
              <a:t>Household &amp; Kitchen Waste 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segregation &amp; security </a:t>
            </a:r>
            <a:endParaRPr lang="en-GB" sz="1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0973" y="945413"/>
            <a:ext cx="6053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Need for the technology: 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Combining Cleanliness and Security </a:t>
            </a:r>
            <a:endParaRPr lang="en-GB" sz="1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34821" y="2314970"/>
            <a:ext cx="855843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Challenges to be addressed: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Dependency on a Local PC (The Edge Server)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itchFamily="18" charset="0"/>
              </a:rPr>
              <a:t>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Camera Lens Obscuration &amp; Maintenance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itchFamily="18" charset="0"/>
              </a:rPr>
              <a:t>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The "Opaque Bag" Problem (Waste Encapsulation)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itchFamily="18" charset="0"/>
              </a:rPr>
              <a:t>                                            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Mechanical Jamming &amp; Weight Limits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itchFamily="18" charset="0"/>
              </a:rPr>
              <a:t>                                                               </a:t>
            </a:r>
            <a:endParaRPr lang="en-GB" sz="14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8081-A97F-4DB5-8CE1-E687C3C2B1EA}" type="datetime3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5 Best Solutions for Waste Management in India">
            <a:extLst>
              <a:ext uri="{FF2B5EF4-FFF2-40B4-BE49-F238E27FC236}">
                <a16:creationId xmlns:a16="http://schemas.microsoft.com/office/drawing/2014/main" id="{5AF87D7D-0772-B166-550F-3E5B54C8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933" y="742259"/>
            <a:ext cx="2089363" cy="1354217"/>
          </a:xfrm>
          <a:prstGeom prst="rect">
            <a:avLst/>
          </a:prstGeom>
        </p:spPr>
      </p:pic>
      <p:pic>
        <p:nvPicPr>
          <p:cNvPr id="12" name="Picture 11" descr="Turning Food Waste Into Fertilizer: Methods &amp; Benefits | Shapiro">
            <a:extLst>
              <a:ext uri="{FF2B5EF4-FFF2-40B4-BE49-F238E27FC236}">
                <a16:creationId xmlns:a16="http://schemas.microsoft.com/office/drawing/2014/main" id="{DBDEF92E-CEE4-4B27-6AAA-AF8E8170B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917" y="3669187"/>
            <a:ext cx="4025782" cy="2324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31B38C-9B41-418E-AB20-2DB1F7A61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1" y="3527982"/>
            <a:ext cx="3184215" cy="24645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222BB8-024C-8693-A46C-CF0743BF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132" y="686937"/>
            <a:ext cx="4175514" cy="25726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53AE47-3631-1626-513F-BB5E0B84C356}"/>
              </a:ext>
            </a:extLst>
          </p:cNvPr>
          <p:cNvSpPr txBox="1"/>
          <p:nvPr/>
        </p:nvSpPr>
        <p:spPr>
          <a:xfrm>
            <a:off x="1645920" y="147461"/>
            <a:ext cx="8511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current situation of India where waste not disposed properly: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5EA94-8DD9-44A2-AB5F-828341617B93}"/>
              </a:ext>
            </a:extLst>
          </p:cNvPr>
          <p:cNvSpPr txBox="1"/>
          <p:nvPr/>
        </p:nvSpPr>
        <p:spPr>
          <a:xfrm>
            <a:off x="1851660" y="6462829"/>
            <a:ext cx="4709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E2F8081-A97F-4DB5-8CE1-E687C3C2B1EA}" type="datetime3"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 July 2026</a:t>
            </a:fld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A99AD-02C8-ACC6-FEF0-8CFF264DF3D6}"/>
              </a:ext>
            </a:extLst>
          </p:cNvPr>
          <p:cNvSpPr txBox="1"/>
          <p:nvPr/>
        </p:nvSpPr>
        <p:spPr>
          <a:xfrm>
            <a:off x="6560820" y="547571"/>
            <a:ext cx="32812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Separating organic biodegradable waste from kitchen and house hold and converting them to high quality  manure has a lot of advantages, like it is a product through which we can earn money, also keeps our house and environment clean and safe	(safe from small bacteria to criminals)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515430-48E3-A678-2E38-3BF660BE1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396" y="3598385"/>
            <a:ext cx="5506065" cy="29250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3D0AD4-1DC0-A373-B15A-EBE0184E4608}"/>
              </a:ext>
            </a:extLst>
          </p:cNvPr>
          <p:cNvSpPr txBox="1"/>
          <p:nvPr/>
        </p:nvSpPr>
        <p:spPr>
          <a:xfrm>
            <a:off x="1743444" y="3598384"/>
            <a:ext cx="30161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making options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PSB (Phosphate-Solubilizing Bacteria) can be used to smell free decomposition </a:t>
            </a:r>
          </a:p>
        </p:txBody>
      </p:sp>
    </p:spTree>
    <p:extLst>
      <p:ext uri="{BB962C8B-B14F-4D97-AF65-F5344CB8AC3E}">
        <p14:creationId xmlns:p14="http://schemas.microsoft.com/office/powerpoint/2010/main" val="151014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739BF5-77DF-B846-A128-F0DEB1CC2772}"/>
              </a:ext>
            </a:extLst>
          </p:cNvPr>
          <p:cNvSpPr txBox="1"/>
          <p:nvPr/>
        </p:nvSpPr>
        <p:spPr>
          <a:xfrm>
            <a:off x="3357559" y="230946"/>
            <a:ext cx="65349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</a:t>
            </a:r>
            <a:endParaRPr lang="en-IN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400B8D-BAB1-A161-349C-19CE8BDFE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40942"/>
              </p:ext>
            </p:extLst>
          </p:nvPr>
        </p:nvGraphicFramePr>
        <p:xfrm>
          <a:off x="121920" y="964239"/>
          <a:ext cx="10942320" cy="5112402"/>
        </p:xfrm>
        <a:graphic>
          <a:graphicData uri="http://schemas.openxmlformats.org/drawingml/2006/table">
            <a:tbl>
              <a:tblPr/>
              <a:tblGrid>
                <a:gridCol w="1823720">
                  <a:extLst>
                    <a:ext uri="{9D8B030D-6E8A-4147-A177-3AD203B41FA5}">
                      <a16:colId xmlns:a16="http://schemas.microsoft.com/office/drawing/2014/main" val="4239342799"/>
                    </a:ext>
                  </a:extLst>
                </a:gridCol>
                <a:gridCol w="1823720">
                  <a:extLst>
                    <a:ext uri="{9D8B030D-6E8A-4147-A177-3AD203B41FA5}">
                      <a16:colId xmlns:a16="http://schemas.microsoft.com/office/drawing/2014/main" val="4186404627"/>
                    </a:ext>
                  </a:extLst>
                </a:gridCol>
                <a:gridCol w="1823720">
                  <a:extLst>
                    <a:ext uri="{9D8B030D-6E8A-4147-A177-3AD203B41FA5}">
                      <a16:colId xmlns:a16="http://schemas.microsoft.com/office/drawing/2014/main" val="1950602796"/>
                    </a:ext>
                  </a:extLst>
                </a:gridCol>
                <a:gridCol w="1823720">
                  <a:extLst>
                    <a:ext uri="{9D8B030D-6E8A-4147-A177-3AD203B41FA5}">
                      <a16:colId xmlns:a16="http://schemas.microsoft.com/office/drawing/2014/main" val="69405987"/>
                    </a:ext>
                  </a:extLst>
                </a:gridCol>
                <a:gridCol w="1823720">
                  <a:extLst>
                    <a:ext uri="{9D8B030D-6E8A-4147-A177-3AD203B41FA5}">
                      <a16:colId xmlns:a16="http://schemas.microsoft.com/office/drawing/2014/main" val="1854489817"/>
                    </a:ext>
                  </a:extLst>
                </a:gridCol>
                <a:gridCol w="1823720">
                  <a:extLst>
                    <a:ext uri="{9D8B030D-6E8A-4147-A177-3AD203B41FA5}">
                      <a16:colId xmlns:a16="http://schemas.microsoft.com/office/drawing/2014/main" val="1927529315"/>
                    </a:ext>
                  </a:extLst>
                </a:gridCol>
              </a:tblGrid>
              <a:tr h="143328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and Year (chronological order)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Methodology/ Materials and Methods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Results/Outcome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 / Key findings from the work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Disadvantage/ GAP Identified from the work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318187"/>
                  </a:ext>
                </a:extLst>
              </a:tr>
              <a:tr h="143328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Costa et al. (2019)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bin using Arduino and ultrasonic sensors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data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measurement of waste levels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power consumption and cost-effective monitoring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image-based waste classification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193273"/>
                  </a:ext>
                </a:extLst>
              </a:tr>
              <a:tr h="16965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Adedeji &amp; Wang (2020)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using transfer learning (ResNet50)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waste image dataset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waste recognition accuracy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manual sorting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 large training dataset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065758"/>
                  </a:ext>
                </a:extLst>
              </a:tr>
              <a:tr h="11700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 et al. (2020)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smart bin with ultrasonic sensor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data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bin-level monitoring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bin overflow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automatic waste segregation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719250"/>
                  </a:ext>
                </a:extLst>
              </a:tr>
              <a:tr h="143328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 et al. (2021)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 with camera and CNN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image dataset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waste classification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embedded solution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 processing compared to high-end systems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364285"/>
                  </a:ext>
                </a:extLst>
              </a:tr>
              <a:tr h="16965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Patel (2021)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ESP32-CAM images processed via AWS Cloud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local dataset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 remote inference with 2-3 seconds latency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low-cost hardware utilizing ESP32-CAM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dependency introduces latency and requires internet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88106"/>
                  </a:ext>
                </a:extLst>
              </a:tr>
              <a:tr h="117002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(2022)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 object detection for waste sorting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Garbage classification dataset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real-time waste detection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embedded AI systems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camera angle and occlusion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047444"/>
                  </a:ext>
                </a:extLst>
              </a:tr>
              <a:tr h="143328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Rahman et al. (2022)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smart bin with IoT monitoring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sensor readings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monitoring through cloud platform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collection management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stable internet connection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640194"/>
                  </a:ext>
                </a:extLst>
              </a:tr>
              <a:tr h="143328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 (2023)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with YOLOv7 for waste detection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waste dataset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detection speed and accuracy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object detection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GPU for model training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476763"/>
                  </a:ext>
                </a:extLst>
              </a:tr>
              <a:tr h="143328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 (2023)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 and robotic arm for waste sorting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Mixed waste dataset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sorting with robotic assistance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sorting efficiency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implementation cost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7718"/>
                  </a:ext>
                </a:extLst>
              </a:tr>
              <a:tr h="195979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&amp; Gupta (2024)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AI YOLOv8 model communicating with ESP32-CAM and PIR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Roboflow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annotated dataset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Ultra-low latency segregation and motion detection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Bypasses cloud costs and integrates surveillance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 local PC/Server to remain active</a:t>
                      </a:r>
                    </a:p>
                  </a:txBody>
                  <a:tcPr marL="24377" marR="24377" marT="16251" marB="1625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50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24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888125" y="-385249"/>
            <a:ext cx="7452069" cy="880278"/>
          </a:xfrm>
        </p:spPr>
        <p:txBody>
          <a:bodyPr>
            <a:no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sz="1800" b="1" u="sng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="1" dirty="0">
              <a:solidFill>
                <a:srgbClr val="A500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 flipV="1">
            <a:off x="2551208" y="2964440"/>
            <a:ext cx="6521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80E69-CE3A-4D4E-8C11-95F4E85341CB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71110" y="5034458"/>
            <a:ext cx="3086100" cy="27384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57089A-44B9-6675-E9D2-277418A1D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" y="2384235"/>
            <a:ext cx="1074928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Brains (AI):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local Python server uses custom trained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instantly classify type of waste from images.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Body (Hardware):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photos, tilts a servo 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motor to sort the trash, and uses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 sensor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motion (while in surveillance mode.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camera and server talk over local Wi-Fi using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over FTP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(sending images) and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(receiving type of waste &amp; servo commands).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Security Alert: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motion is detected, the ESP32 bypasses the local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server and sends a photo securely over HTTPS to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 API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Brain Switch: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Machine (FSM)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uses a physical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push-button to instantly flip the system's behavior between "Smart Bin" 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mode and "Surveillance" mode.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DA1F1-2BC6-432C-8618-850C0950E2E7}"/>
              </a:ext>
            </a:extLst>
          </p:cNvPr>
          <p:cNvSpPr txBox="1"/>
          <p:nvPr/>
        </p:nvSpPr>
        <p:spPr>
          <a:xfrm>
            <a:off x="1472908" y="1447801"/>
            <a:ext cx="8524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smart waste bins fail to leverage their built-in cameras for secondary functions, leaving expensive hardware sitting uselessly idle for most of the day.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84838" y="136526"/>
            <a:ext cx="6083163" cy="433523"/>
          </a:xfrm>
        </p:spPr>
        <p:txBody>
          <a:bodyPr>
            <a:no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3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388091"/>
              </p:ext>
            </p:extLst>
          </p:nvPr>
        </p:nvGraphicFramePr>
        <p:xfrm>
          <a:off x="1087121" y="938540"/>
          <a:ext cx="8934409" cy="41535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68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653"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Times New Roman" pitchFamily="18" charset="0"/>
                          <a:cs typeface="Times New Roman" pitchFamily="18" charset="0"/>
                        </a:rPr>
                        <a:t>#</a:t>
                      </a:r>
                    </a:p>
                  </a:txBody>
                  <a:tcPr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Times New Roman" pitchFamily="18" charset="0"/>
                          <a:cs typeface="Times New Roman" pitchFamily="18" charset="0"/>
                        </a:rPr>
                        <a:t>Modules </a:t>
                      </a:r>
                    </a:p>
                  </a:txBody>
                  <a:tcPr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Times New Roman" pitchFamily="18" charset="0"/>
                          <a:cs typeface="Times New Roman" pitchFamily="18" charset="0"/>
                        </a:rPr>
                        <a:t>Methodology/</a:t>
                      </a:r>
                    </a:p>
                    <a:p>
                      <a:pPr algn="ctr"/>
                      <a:r>
                        <a:rPr lang="en-GB" sz="1200" b="1" dirty="0"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</a:p>
                  </a:txBody>
                  <a:tcPr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Times New Roman" pitchFamily="18" charset="0"/>
                          <a:cs typeface="Times New Roman" pitchFamily="18" charset="0"/>
                        </a:rPr>
                        <a:t>Technologies</a:t>
                      </a:r>
                    </a:p>
                    <a:p>
                      <a:pPr algn="ctr"/>
                      <a:r>
                        <a:rPr lang="en-GB" sz="1200" b="1" dirty="0">
                          <a:latin typeface="Times New Roman" pitchFamily="18" charset="0"/>
                          <a:cs typeface="Times New Roman" pitchFamily="18" charset="0"/>
                        </a:rPr>
                        <a:t>(H/W and S/W)</a:t>
                      </a:r>
                    </a:p>
                  </a:txBody>
                  <a:tcPr marT="34290" marB="3429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latin typeface="Times New Roman" pitchFamily="18" charset="0"/>
                          <a:cs typeface="Times New Roman" pitchFamily="18" charset="0"/>
                        </a:rPr>
                        <a:t>Implementation </a:t>
                      </a:r>
                    </a:p>
                  </a:txBody>
                  <a:tcPr marT="34290" marB="3429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072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GB" sz="1800" b="1" dirty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sz="1800" b="1" dirty="0" err="1"/>
                        <a:t>ual</a:t>
                      </a:r>
                      <a:r>
                        <a:rPr lang="en-US" sz="1800" b="1" dirty="0"/>
                        <a:t>-State Controller</a:t>
                      </a:r>
                      <a:endParaRPr lang="en-GB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/>
                        <a:t>Finite State Machine &amp; Debouncing</a:t>
                      </a:r>
                      <a:endParaRPr lang="en-GB" sz="12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pl-PL" sz="1100" b="1" dirty="0"/>
                        <a:t>H/W:</a:t>
                      </a:r>
                      <a:r>
                        <a:rPr lang="pl-PL" sz="1100" dirty="0"/>
                        <a:t> ESP32-CAM, Button</a:t>
                      </a:r>
                      <a:br>
                        <a:rPr lang="pl-PL" sz="1100" dirty="0"/>
                      </a:br>
                      <a:r>
                        <a:rPr lang="pl-PL" sz="1100" b="1" dirty="0"/>
                        <a:t>S/W:</a:t>
                      </a:r>
                      <a:r>
                        <a:rPr lang="pl-PL" sz="1100" dirty="0"/>
                        <a:t> Arduino 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Toggles the system between Bin and Surveillance modes via a button press.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728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Edge-AI Vision</a:t>
                      </a:r>
                      <a:endParaRPr lang="en-GB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YOLOv8 (CNN)</a:t>
                      </a:r>
                      <a:endParaRPr lang="en-GB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H/W:</a:t>
                      </a:r>
                      <a:r>
                        <a:rPr lang="en-US" sz="1100" dirty="0"/>
                        <a:t> PC  Server</a:t>
                      </a:r>
                      <a:br>
                        <a:rPr lang="en-US" sz="1100" dirty="0"/>
                      </a:br>
                      <a:r>
                        <a:rPr lang="en-US" sz="1100" b="1" dirty="0"/>
                        <a:t>S/W:</a:t>
                      </a:r>
                      <a:r>
                        <a:rPr lang="en-US" sz="1100" dirty="0"/>
                        <a:t> Python, </a:t>
                      </a:r>
                      <a:r>
                        <a:rPr lang="en-US" sz="1100" dirty="0" err="1"/>
                        <a:t>FastAPI</a:t>
                      </a:r>
                      <a:r>
                        <a:rPr lang="en-US" sz="1100" dirty="0"/>
                        <a:t>, custom trained YOLOv8 model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 err="1"/>
                        <a:t>Analyzes</a:t>
                      </a:r>
                      <a:r>
                        <a:rPr lang="en-IN" sz="1100" dirty="0"/>
                        <a:t> incoming images locally to instantly classify waste types offline.</a:t>
                      </a:r>
                      <a:endParaRPr lang="en-GB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Automated Sorting</a:t>
                      </a:r>
                      <a:endParaRPr lang="en-GB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JSON Parsing &amp; PWM Control</a:t>
                      </a:r>
                      <a:endParaRPr lang="en-GB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pt-BR" sz="1100" b="1" dirty="0"/>
                        <a:t>H/W:</a:t>
                      </a:r>
                      <a:r>
                        <a:rPr lang="pt-BR" sz="1100" dirty="0"/>
                        <a:t> Servo Motors</a:t>
                      </a:r>
                      <a:br>
                        <a:rPr lang="pt-BR" sz="1100" dirty="0"/>
                      </a:br>
                      <a:r>
                        <a:rPr lang="pt-BR" sz="1100" b="1" dirty="0"/>
                        <a:t>S/W:</a:t>
                      </a:r>
                      <a:r>
                        <a:rPr lang="pt-BR" sz="1100" dirty="0"/>
                        <a:t> Arduino C++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Converts AI classification data into physical servo movements to route the trash.</a:t>
                      </a:r>
                      <a:endParaRPr lang="en-GB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072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 Motion Detection</a:t>
                      </a:r>
                      <a:endParaRPr lang="en-GB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PIR Sensing</a:t>
                      </a:r>
                      <a:endParaRPr lang="en-GB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H/W:</a:t>
                      </a:r>
                      <a:r>
                        <a:rPr lang="en-US" sz="1100" dirty="0"/>
                        <a:t> PIR Sensor</a:t>
                      </a:r>
                      <a:br>
                        <a:rPr lang="en-US" sz="1100" dirty="0"/>
                      </a:br>
                      <a:r>
                        <a:rPr lang="en-US" sz="1100" b="1" dirty="0"/>
                        <a:t>S/W:</a:t>
                      </a:r>
                      <a:r>
                        <a:rPr lang="en-US" sz="1100" dirty="0"/>
                        <a:t> C++ Digital I/O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Detects human heat signatures to trigger the camera when in security mode.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6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</a:t>
                      </a:r>
                      <a:r>
                        <a:rPr lang="en-US" sz="2000" b="1" dirty="0"/>
                        <a:t>Secure Alerts</a:t>
                      </a:r>
                      <a:endParaRPr lang="en-GB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HTTPS Data Streaming</a:t>
                      </a:r>
                      <a:endParaRPr lang="en-GB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pl-PL" sz="1100" b="1" dirty="0"/>
                        <a:t>H/W:</a:t>
                      </a:r>
                      <a:r>
                        <a:rPr lang="pl-PL" sz="1100" dirty="0"/>
                        <a:t> Wi-Fi, Smartphone</a:t>
                      </a:r>
                      <a:br>
                        <a:rPr lang="pl-PL" sz="1100" dirty="0"/>
                      </a:br>
                      <a:r>
                        <a:rPr lang="pl-PL" sz="1100" b="1" dirty="0"/>
                        <a:t>S/W:</a:t>
                      </a:r>
                      <a:r>
                        <a:rPr lang="pl-PL" sz="1100" dirty="0"/>
                        <a:t> Telegram Bot API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Bypasses the local server to send instant intruder photo alerts to the user's phone.</a:t>
                      </a:r>
                      <a:endParaRPr lang="en-GB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3973-4A1E-4C7C-AAB7-BDE9EAC7FD5C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083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024" y="372272"/>
            <a:ext cx="8651828" cy="994172"/>
          </a:xfrm>
        </p:spPr>
        <p:txBody>
          <a:bodyPr/>
          <a:lstStyle/>
          <a:p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3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CE664-CC6B-43B1-BCF8-14EAD95F037A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B100FD7-E8A4-C055-12FA-412B74D21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1370135"/>
            <a:ext cx="1042416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Local Edge-AI: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Use Custom trained YOLOv8 model for instant, offline waste classification.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Physical Sorting: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Control servo motors via an ESP32-CAM &amp; flask server to route trash.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Security Alerts: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Send PIR motion-triggered photos to Telegram over Wi-Fi.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Mode Switching: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 a physical button to toggle between Bin and Surveillance modes.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Hardware Utility: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Eliminate idle time by giving the camera a dual purpose.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504F2A-5650-4F36-82A6-30B7549A2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50" y="767266"/>
            <a:ext cx="7715472" cy="58307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3A61A2-B29D-45A2-94C3-20F458923212}"/>
              </a:ext>
            </a:extLst>
          </p:cNvPr>
          <p:cNvSpPr txBox="1"/>
          <p:nvPr/>
        </p:nvSpPr>
        <p:spPr>
          <a:xfrm>
            <a:off x="1190976" y="397934"/>
            <a:ext cx="6096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76BF346-676C-4DA5-864B-239D427E60A3}"/>
              </a:ext>
            </a:extLst>
          </p:cNvPr>
          <p:cNvSpPr/>
          <p:nvPr/>
        </p:nvSpPr>
        <p:spPr>
          <a:xfrm>
            <a:off x="9021111" y="1221555"/>
            <a:ext cx="3044941" cy="6930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1A09E97-AD46-4F8E-9CAE-4EE26B56E7F7}"/>
              </a:ext>
            </a:extLst>
          </p:cNvPr>
          <p:cNvSpPr/>
          <p:nvPr/>
        </p:nvSpPr>
        <p:spPr>
          <a:xfrm>
            <a:off x="9021109" y="2342444"/>
            <a:ext cx="3044941" cy="6930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98C184B-566E-4BE0-BBF0-E47DE771A5B9}"/>
              </a:ext>
            </a:extLst>
          </p:cNvPr>
          <p:cNvSpPr/>
          <p:nvPr/>
        </p:nvSpPr>
        <p:spPr>
          <a:xfrm>
            <a:off x="9021110" y="3463333"/>
            <a:ext cx="3044941" cy="6930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A8F757-5023-4E3F-B78C-5B3D361595E5}"/>
              </a:ext>
            </a:extLst>
          </p:cNvPr>
          <p:cNvSpPr/>
          <p:nvPr/>
        </p:nvSpPr>
        <p:spPr>
          <a:xfrm>
            <a:off x="9021111" y="4515556"/>
            <a:ext cx="3044941" cy="6930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CADAE6C-7671-473B-966B-5A062BA44484}"/>
              </a:ext>
            </a:extLst>
          </p:cNvPr>
          <p:cNvSpPr/>
          <p:nvPr/>
        </p:nvSpPr>
        <p:spPr>
          <a:xfrm>
            <a:off x="9021111" y="5545434"/>
            <a:ext cx="3044941" cy="69304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5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AFE24AE-BD42-4FBD-B158-76A6B98B3C4B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5181601" y="1568077"/>
            <a:ext cx="3839510" cy="40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A756F6D-DA5F-4A95-903D-A0C9C4AAF0E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88572" y="2522528"/>
            <a:ext cx="2947479" cy="103857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589C18C-CE03-4F1B-A563-413D1D6BC829}"/>
              </a:ext>
            </a:extLst>
          </p:cNvPr>
          <p:cNvCxnSpPr/>
          <p:nvPr/>
        </p:nvCxnSpPr>
        <p:spPr>
          <a:xfrm>
            <a:off x="2336800" y="5012267"/>
            <a:ext cx="58502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12913FD-C955-4166-AC3F-4ACCA5469A3E}"/>
              </a:ext>
            </a:extLst>
          </p:cNvPr>
          <p:cNvCxnSpPr>
            <a:endCxn id="29" idx="1"/>
          </p:cNvCxnSpPr>
          <p:nvPr/>
        </p:nvCxnSpPr>
        <p:spPr>
          <a:xfrm rot="5400000" flipH="1" flipV="1">
            <a:off x="7442415" y="3433574"/>
            <a:ext cx="2323301" cy="8340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D83C5D5-FD8F-4690-9F97-5C425AE79447}"/>
              </a:ext>
            </a:extLst>
          </p:cNvPr>
          <p:cNvCxnSpPr>
            <a:cxnSpLocks/>
          </p:cNvCxnSpPr>
          <p:nvPr/>
        </p:nvCxnSpPr>
        <p:spPr>
          <a:xfrm>
            <a:off x="6276622" y="5712178"/>
            <a:ext cx="21674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B53369F9-3E14-48F8-B33F-AAD482F47F7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781438" y="4461218"/>
            <a:ext cx="1902323" cy="5770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57B3B3F-FFD6-4B3C-9FC9-AC5667C7BB72}"/>
              </a:ext>
            </a:extLst>
          </p:cNvPr>
          <p:cNvCxnSpPr/>
          <p:nvPr/>
        </p:nvCxnSpPr>
        <p:spPr>
          <a:xfrm>
            <a:off x="4233333" y="3035488"/>
            <a:ext cx="0" cy="33991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5A11B4DA-CA1E-4C33-853C-81173B2F7FF2}"/>
              </a:ext>
            </a:extLst>
          </p:cNvPr>
          <p:cNvCxnSpPr>
            <a:endCxn id="31" idx="1"/>
          </p:cNvCxnSpPr>
          <p:nvPr/>
        </p:nvCxnSpPr>
        <p:spPr>
          <a:xfrm flipV="1">
            <a:off x="4143022" y="4862078"/>
            <a:ext cx="4878089" cy="15725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21AF55-858F-48CF-BC68-F5981B841F43}"/>
              </a:ext>
            </a:extLst>
          </p:cNvPr>
          <p:cNvCxnSpPr/>
          <p:nvPr/>
        </p:nvCxnSpPr>
        <p:spPr>
          <a:xfrm>
            <a:off x="3059289" y="6238478"/>
            <a:ext cx="0" cy="359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F8654334-8758-4D3F-A58A-7EBD5A47DCB1}"/>
              </a:ext>
            </a:extLst>
          </p:cNvPr>
          <p:cNvCxnSpPr>
            <a:endCxn id="32" idx="2"/>
          </p:cNvCxnSpPr>
          <p:nvPr/>
        </p:nvCxnSpPr>
        <p:spPr>
          <a:xfrm flipV="1">
            <a:off x="3059289" y="6238478"/>
            <a:ext cx="7484293" cy="3594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5BC0A73-A40B-436C-BF7C-A060A26CB14F}"/>
              </a:ext>
            </a:extLst>
          </p:cNvPr>
          <p:cNvCxnSpPr/>
          <p:nvPr/>
        </p:nvCxnSpPr>
        <p:spPr>
          <a:xfrm>
            <a:off x="5836356" y="6028267"/>
            <a:ext cx="0" cy="2102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42E5B187-3026-4F27-BCB0-215A4A7DFE23}"/>
              </a:ext>
            </a:extLst>
          </p:cNvPr>
          <p:cNvCxnSpPr>
            <a:endCxn id="32" idx="1"/>
          </p:cNvCxnSpPr>
          <p:nvPr/>
        </p:nvCxnSpPr>
        <p:spPr>
          <a:xfrm flipV="1">
            <a:off x="5836356" y="5891956"/>
            <a:ext cx="3184755" cy="34652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45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92D8D6-DF1A-2FEC-FD7D-E19AA0A80587}"/>
              </a:ext>
            </a:extLst>
          </p:cNvPr>
          <p:cNvSpPr txBox="1"/>
          <p:nvPr/>
        </p:nvSpPr>
        <p:spPr>
          <a:xfrm>
            <a:off x="2654075" y="409548"/>
            <a:ext cx="84074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B6314-4D0D-DE05-8CD4-CB082B9D8F7A}"/>
              </a:ext>
            </a:extLst>
          </p:cNvPr>
          <p:cNvSpPr txBox="1"/>
          <p:nvPr/>
        </p:nvSpPr>
        <p:spPr>
          <a:xfrm>
            <a:off x="237066" y="1493250"/>
            <a:ext cx="119549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 Deploy Local Edge-AI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Verifying that a lightweight AI model can classify waste using images captured directly from a low-power microcontroller without relying on cloud processing.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Methods/Algorithm: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 a YOLOv8 Nano model on a custom waste dataset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scripting a local Python Flask server to decode raw JPEG byte streams into OpenCV matrices for ultra-low latency inference.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Design and Implementation: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Setting up a local PC/laptop as the Edge Server running the server.py script on port 5000, and configuring the ESP32-CAM to transmit frames to this specific local IP address over HTTP.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Model: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live OpenCV video window running on the local PC, instantly drawing bounding boxes around waste items (i.e., “non-biodegradable", “biodegradable") held in front of the ESP32 camera lens.</a:t>
            </a:r>
          </a:p>
          <a:p>
            <a:pPr rtl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318303-A724-4CA2-A23B-7BEC7C62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851" y="5147748"/>
            <a:ext cx="3701794" cy="130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78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FAE0-0C6B-1A9D-B490-39C0F7EF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91ECC-98EB-8E1B-FC8A-1A13FAA95546}"/>
              </a:ext>
            </a:extLst>
          </p:cNvPr>
          <p:cNvSpPr txBox="1"/>
          <p:nvPr/>
        </p:nvSpPr>
        <p:spPr>
          <a:xfrm>
            <a:off x="609600" y="1166842"/>
            <a:ext cx="1132275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 Automate Physical Sorting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Demonstrating that AI classification results can be translated into physical, electromechanical movement to segregate waste automatically.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Methods/Algorithm: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Developing a substring-matching algorithm on the Python server to map detected classes to specific servo angles (e.g., Biodegradable = 30°, Non-biodegradable = 150°), and transmitting this as a JSON payload.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Design and Implementation: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Wiring an SG90/MG996R servo motor to GPIO 14 of the ESP32-CAM and using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ledcWrite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PWM function to rotate a physical trapdoor mechanism based on the parsed JSON response.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Model: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physical smart bin prototype where dropping a plastic bottle causes the internal flap to physically tilt to the right, depositing the item into the non-biodegradable compartment before resetting.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D3051-989A-47F5-97A0-70D50E9C4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872" y="4775851"/>
            <a:ext cx="3292484" cy="173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36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5663-43F1-8B97-4588-51B07C4DE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455B1-63CD-D4B2-83DE-36E57739DC98}"/>
              </a:ext>
            </a:extLst>
          </p:cNvPr>
          <p:cNvSpPr txBox="1"/>
          <p:nvPr/>
        </p:nvSpPr>
        <p:spPr>
          <a:xfrm>
            <a:off x="293511" y="1305342"/>
            <a:ext cx="115824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 Integrate Security Alerts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Validating that the ESP32-CAM can process hardware sensor interrupts and establish secure external network connections despite its limited SRAM.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Methods/Algorithm: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the Telegram Bot API (api.telegram.org) via an HTTPS POST request, breaking the captured image buffer into 1024-byte chunks to prevent memory overflow during multi-part form data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Design and Implementation: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Wiring an HC-SR501 PIR motion sensor to GPIO 13, and coding the ESP32 to bypass SSL certificate validation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client.setInsecure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to securely upload the photo alert to a specific Telegram Chat 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Model: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BinSight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Telegram Bot application on a smartphone, immediately receiving a text alert and a clear photograph whenever motion is detected by the PIR sensor.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F0E99-2CC8-40A0-A959-41D4213F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96" y="4910872"/>
            <a:ext cx="3902393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94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74B07-A432-75FB-74C9-C00B2C07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4E363-5374-B1DD-745A-AB3DC9BA055F}"/>
              </a:ext>
            </a:extLst>
          </p:cNvPr>
          <p:cNvSpPr txBox="1"/>
          <p:nvPr/>
        </p:nvSpPr>
        <p:spPr>
          <a:xfrm>
            <a:off x="237068" y="1125818"/>
            <a:ext cx="1175173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 Implement Mode Switching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Proving that the core functionality of the device can be manually overridden and swapped without requiring a hard reset or code re-upload.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Methods/Algorithm: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a hardware-debounced Interrupt Service Routine (ISR) attached to a falling-edge trigger to safely toggle a global state variable between operational modes.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Design and Implementation: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Connecting a physical push-button to GPIO 12 (using INPUT_PULLUP). Programming the ISR to switch between MODE_BIN and MODE_SURVEILLANCE, accompanied by 1 or 2 flashes of the built-in LED (GPIO 4) for visual user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Model: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physical control panel on the bin featuring a single button; pressing it instantly stops the local AI streaming and activates the PIR sensor, confirmed by the LED flash.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96AB7-57A8-4C14-8D44-957162396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686" y="4307206"/>
            <a:ext cx="7090203" cy="212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07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EFF7-C84B-C492-62D8-9339C6043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4004F-BA32-93E1-6DEA-8F35DA65A774}"/>
              </a:ext>
            </a:extLst>
          </p:cNvPr>
          <p:cNvSpPr txBox="1"/>
          <p:nvPr/>
        </p:nvSpPr>
        <p:spPr>
          <a:xfrm>
            <a:off x="237067" y="999291"/>
            <a:ext cx="1158917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5: Maximize Hardware Utility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a single, unified codebase that allows an affordable IoT device to perform two vastly different tasks, eliminating idle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of Methods/Algorithm: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Designing a Finite State Machine (FSM) within the main loop() of the ESP32 firmware. State A handles high-speed HTTP local streaming, while State B handles low-speed, interrupt-driven HTTPS remote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Design and Implementation: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Consolidating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binsight_basic.ino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binsight_telegram.ino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scripts into the final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binsight_master.ino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firmware, ensuring memory buffers are properly cleared when transitioning between states to prevent crashing.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Model: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finalized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BinSight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device, acting seamlessly as an AI waste sorter during daytime operations, and instantly transforming into an active security sentry during nighttime or off-hours via a simple button press.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74E37-868E-4C69-930E-4CEE48FF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056" y="4402422"/>
            <a:ext cx="5981888" cy="221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77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EEFEC-FC8A-4E84-AA31-562BEDF91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2763520"/>
            <a:ext cx="10972800" cy="1143000"/>
          </a:xfrm>
        </p:spPr>
        <p:txBody>
          <a:bodyPr>
            <a:noAutofit/>
          </a:bodyPr>
          <a:lstStyle/>
          <a:p>
            <a:r>
              <a:rPr lang="en-US" sz="6600" dirty="0"/>
              <a:t>Graphs</a:t>
            </a:r>
            <a:br>
              <a:rPr lang="en-US" sz="6600" dirty="0"/>
            </a:br>
            <a:r>
              <a:rPr lang="en-US" sz="6600" dirty="0"/>
              <a:t>(ai model benchmarks from </a:t>
            </a:r>
            <a:r>
              <a:rPr lang="en-US" sz="6600"/>
              <a:t>ultralytics)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942663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t>15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82188" y="489974"/>
            <a:ext cx="5799812" cy="258842"/>
          </a:xfrm>
        </p:spPr>
        <p:txBody>
          <a:bodyPr>
            <a:no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 vs confidence graph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E864-39B2-4D9A-938E-DF8E5B1FD578}" type="datetime3">
              <a:rPr lang="en-US" smtClean="0"/>
              <a:t>10 July 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6858000"/>
            <a:ext cx="3086100" cy="273844"/>
          </a:xfrm>
        </p:spPr>
        <p:txBody>
          <a:bodyPr/>
          <a:lstStyle/>
          <a:p>
            <a:r>
              <a:rPr lang="en-US" dirty="0"/>
              <a:t>CYB23I1 REVIEW - 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47762-24AC-4156-AC8C-1287C9AA7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695" y="870219"/>
            <a:ext cx="8229198" cy="54861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73B08F-378C-4A77-9FAB-E117E0B62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321" y="867440"/>
            <a:ext cx="8229198" cy="5486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C9B59A-FF7E-4A23-A2FE-2B951B6FDE33}"/>
              </a:ext>
            </a:extLst>
          </p:cNvPr>
          <p:cNvSpPr txBox="1"/>
          <p:nvPr/>
        </p:nvSpPr>
        <p:spPr>
          <a:xfrm>
            <a:off x="2194560" y="5044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 confidence 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12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37990-7C4A-4BC0-A507-97CE1AC4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842" y="1055266"/>
            <a:ext cx="8229198" cy="54861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92FA2F-A938-4C7F-ACDD-340A0F009C1E}"/>
              </a:ext>
            </a:extLst>
          </p:cNvPr>
          <p:cNvSpPr txBox="1"/>
          <p:nvPr/>
        </p:nvSpPr>
        <p:spPr>
          <a:xfrm>
            <a:off x="1950720" y="685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vs confidence 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56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A80112-C881-4E87-A73B-9F42F0166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801" y="1112654"/>
            <a:ext cx="8229198" cy="54861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244A0-A65B-497C-8228-51DA6B29E3C4}"/>
              </a:ext>
            </a:extLst>
          </p:cNvPr>
          <p:cNvSpPr txBox="1"/>
          <p:nvPr/>
        </p:nvSpPr>
        <p:spPr>
          <a:xfrm>
            <a:off x="1899920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vs r</a:t>
            </a:r>
            <a:r>
              <a:rPr lang="en-US" sz="1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ecall 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833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465585" y="617485"/>
            <a:ext cx="8515350" cy="433523"/>
          </a:xfrm>
        </p:spPr>
        <p:txBody>
          <a:bodyPr>
            <a:no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24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TENTATIVE RESULTS/ EXPECTED OUTCOME: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CB6B-BD60-4065-AB97-7D0371657514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22C133-C7B6-A167-8596-3A61F805A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59285"/>
            <a:ext cx="98552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High-Accuracy Waste Classification: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a high confidence rate (e.g., &gt;90%) in identifying and distinguishing between targeted waste categories (plastic, cardboard, metal) using the custom-trained, local YOLOv8 neural network.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Ultra-Low Latency Edge Processing: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 near-zero latency (under 1 second) from the moment the ESP32-CAM captures the waste image to the physical actuation of the servo motor, proving the speed advantage of local edge-computing over cloud APIs.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Electromechanical Segregation: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translate the Python server's JSON command payloads into precise PWM signals, resulting in an automated, error-free physical sorting mechanism that routes the recognized item into the correct physical bin.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Security Threat Transmission: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 a stable, secure HTTPS connection that successfully captures a high-resolution image upon PIR motion detection and delivers it as an instant Telegram alert to the user's smartphone within seconds.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System State Toggling: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the Finite State Machine (FSM) logic by demonstrating stable, hardware-debounced switching between Smart Bin Mode and Surveillance Mode without requiring system reboots, thereby proving the dual-utility value of the hardware.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39240" y="317713"/>
            <a:ext cx="8515350" cy="433523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4BED-E319-4DA0-96BF-17657C6E3A60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79AB840-5725-C7D6-71F8-958086B75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0" y="1376742"/>
            <a:ext cx="1002544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Zero-Latency Edge AI: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Proved that running YOLOv8 on a local server eliminates expensive cloud dependency and provides instant, real-time processing.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Segregation: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removed human error from recycling by using AI-driven servo motors to physically sort waste automatically.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Dual-Functionality (FSM):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Maximized hardware utility by using a physical toggle to seamlessly switch the device from a waste bin into a security camera.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Remote Alerts: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Validated the ESP32-CAM’s ability to securely detect motion and transmit photographic intruder alerts instantly to Telegram.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Scalability: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Demonstrated that combining off-the-shelf IoT components creates a highly affordable, scalable solution for everyday consumer deployment.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16193" y="348855"/>
            <a:ext cx="8515350" cy="433523"/>
          </a:xfrm>
        </p:spPr>
        <p:txBody>
          <a:bodyPr>
            <a:noAutofit/>
          </a:bodyPr>
          <a:lstStyle/>
          <a:p>
            <a:pPr algn="l"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36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CB6B-BD60-4065-AB97-7D0371657514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INT500 REVIEW - 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305341"/>
            <a:ext cx="97593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Power/Configuration: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microcontroller YOLOv8 model on a Flask server Arduino IDE and Python Wi-Fi connection for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Collected: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of biodegradable and non-biodegradable waste Public waste image datasets and self-collected images Test images captured using the ESP32-CAM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images to the required input size Label images as biodegradable or non-biodegradable Normalize image data Remove blurred or duplicate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Set-up for experiment and evaluation: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tested in indoor conditions with adequate lighting Waste items placed individually into the smart bin ESP32-CAM captures images and sends them to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the flask server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31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840090" y="165335"/>
            <a:ext cx="8236391" cy="71953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40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20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DF74A-E01D-21FB-F9CB-9A61BD4D7EFE}"/>
              </a:ext>
            </a:extLst>
          </p:cNvPr>
          <p:cNvSpPr txBox="1"/>
          <p:nvPr/>
        </p:nvSpPr>
        <p:spPr>
          <a:xfrm>
            <a:off x="609600" y="820636"/>
            <a:ext cx="98856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Wang and H. Chen, "Real-time garbage classification on edge devices using YOLO algorithms,"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4, p. 1852, Feb 2023.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Kumar, A. Singh, and P. Sharma, "IoT-based smart waste management system using ESP32-CAM and deep learning,"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Int. Conf. Smart Gener.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(ICSGC)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1-6, Oct 2022.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Chaurasia, and J. Qiu,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YOLOv8,"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https://github.com/ultralytics/ultralytics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Jan 2023.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R. Gupta, S. Verma, and V. Patel, "Low-cost smart surveillance system using ESP32-CAM and Telegram bot API,"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Int. J.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Appl.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178, no. 9, pp. 12-18, May 2021.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D. Singh and P. Kumar, "Integrating IoT and motion sensors for smart security and automation,"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1, pp. 145-159, Jan 2023.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Sharma and M. Desai, "Automated solid waste segregator using microcontrollers and servo mechanisms,"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Environ. Manage.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261, p. 110245, May 2020.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X. Li, Y. Zhang, and L. Wang, "Edge computing framework for computer vision applications in IoT environments,"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pp. 45678-45689, Jun 2022.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M. A. Rahman, A. T.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Asyhari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L. S. Leong, "Smart bin: Internet of Things-based real-time waste management system,"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92, p. 107125, Jun 2021.</a:t>
            </a:r>
            <a:endParaRPr lang="en-IN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0CD2-9846-482E-BF67-7C2753030DC2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87833" y="602551"/>
            <a:ext cx="6083163" cy="433523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450"/>
              </a:spcAft>
            </a:pPr>
            <a:r>
              <a:rPr lang="en-US" sz="2800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 REFERENCES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DF74A-E01D-21FB-F9CB-9A61BD4D7EFE}"/>
              </a:ext>
            </a:extLst>
          </p:cNvPr>
          <p:cNvSpPr txBox="1"/>
          <p:nvPr/>
        </p:nvSpPr>
        <p:spPr>
          <a:xfrm>
            <a:off x="782320" y="1352691"/>
            <a:ext cx="984504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"Python for Data Science - Course for Beginners (Learn Python, Pandas, NumPy, Matplotlib),"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freeCodeCamp.org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YouTube,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https://www.youtube.com/watch?v=LHBE6Q9XlzI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[2]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YOLOv8 Documentation,"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https://docs.ultralytics.com/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Computer Vision Platform,"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https://roboflow.com/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"ESP32-CAM Video Streaming Web Server (works with Home Assistant),"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Nerd Tutorials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https://randomnerdtutorials.com/esp32-cam-video-streaming-web-server-camera-home-assistant/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[5] "Universal Telegram Bot Library for Arduino,"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Brian Lough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GitHub,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https://github.com/witnessmenow/Universal-Arduino-Telegram-Bot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ArduinoJson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JSON serialization for embedded C++,"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Benoit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Blanchon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https://arduinojson.org/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A5002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34A4-5EBF-4C57-A471-F9649EE16CF8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1" y="2803786"/>
            <a:ext cx="3069771" cy="10922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04E1E-CF05-4B41-8802-CD685CA27131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July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2777</Words>
  <Application>Microsoft Office PowerPoint</Application>
  <PresentationFormat>Widescreen</PresentationFormat>
  <Paragraphs>258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INTRODUCTION</vt:lpstr>
      <vt:lpstr>PowerPoint Presentation</vt:lpstr>
      <vt:lpstr>PowerPoint Presentation</vt:lpstr>
      <vt:lpstr>    PROBLEM STATEMENT </vt:lpstr>
      <vt:lpstr>MODULES</vt:lpstr>
      <vt:lpstr>OBJECTIVES </vt:lpstr>
      <vt:lpstr>PowerPoint Presentation</vt:lpstr>
      <vt:lpstr>PowerPoint Presentation</vt:lpstr>
      <vt:lpstr>Methodology </vt:lpstr>
      <vt:lpstr>Methodology </vt:lpstr>
      <vt:lpstr>Methodology </vt:lpstr>
      <vt:lpstr>Methodology </vt:lpstr>
      <vt:lpstr>Graphs (ai model benchmarks from ultralytics)</vt:lpstr>
      <vt:lpstr>FI vs confidence graph</vt:lpstr>
      <vt:lpstr>PowerPoint Presentation</vt:lpstr>
      <vt:lpstr>PowerPoint Presentation</vt:lpstr>
      <vt:lpstr>PowerPoint Presentation</vt:lpstr>
      <vt:lpstr>TENTATIVE RESULTS/ EXPECTED OUTCOME:</vt:lpstr>
      <vt:lpstr>CONCLUSION</vt:lpstr>
      <vt:lpstr>EXPERIMENTAL EVALUATION</vt:lpstr>
      <vt:lpstr>REFERENCES </vt:lpstr>
      <vt:lpstr>WEB  REFERENCES 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Balavignesh Kumar</cp:lastModifiedBy>
  <cp:revision>23</cp:revision>
  <dcterms:created xsi:type="dcterms:W3CDTF">2013-01-27T09:14:16Z</dcterms:created>
  <dcterms:modified xsi:type="dcterms:W3CDTF">2026-07-10T05:51:23Z</dcterms:modified>
  <cp:category/>
</cp:coreProperties>
</file>